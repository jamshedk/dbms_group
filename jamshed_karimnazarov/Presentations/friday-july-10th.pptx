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</p:sldIdLst>
  <p:sldSz cy="5143500" cx="9144000"/>
  <p:notesSz cx="6858000" cy="9144000"/>
  <p:embeddedFontLst>
    <p:embeddedFont>
      <p:font typeface="Inter SemiBold"/>
      <p:regular r:id="rId18"/>
      <p:bold r:id="rId19"/>
      <p:italic r:id="rId20"/>
      <p:boldItalic r:id="rId21"/>
    </p:embeddedFont>
    <p:embeddedFont>
      <p:font typeface="Inter"/>
      <p:regular r:id="rId22"/>
      <p:bold r:id="rId23"/>
      <p:italic r:id="rId24"/>
      <p:boldItalic r:id="rId25"/>
    </p:embeddedFont>
    <p:embeddedFont>
      <p:font typeface="Inter ExtraBold"/>
      <p:bold r:id="rId26"/>
      <p:boldItalic r:id="rId27"/>
    </p:embeddedFont>
    <p:embeddedFont>
      <p:font typeface="Inter Medium"/>
      <p:regular r:id="rId28"/>
      <p:bold r:id="rId29"/>
      <p:italic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SemiBold-italic.fntdata"/><Relationship Id="rId22" Type="http://schemas.openxmlformats.org/officeDocument/2006/relationships/font" Target="fonts/Inter-regular.fntdata"/><Relationship Id="rId21" Type="http://schemas.openxmlformats.org/officeDocument/2006/relationships/font" Target="fonts/InterSemiBold-boldItalic.fntdata"/><Relationship Id="rId24" Type="http://schemas.openxmlformats.org/officeDocument/2006/relationships/font" Target="fonts/Inter-italic.fntdata"/><Relationship Id="rId23" Type="http://schemas.openxmlformats.org/officeDocument/2006/relationships/font" Target="fonts/Inter-bold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InterExtraBold-bold.fntdata"/><Relationship Id="rId25" Type="http://schemas.openxmlformats.org/officeDocument/2006/relationships/font" Target="fonts/Inter-boldItalic.fntdata"/><Relationship Id="rId28" Type="http://schemas.openxmlformats.org/officeDocument/2006/relationships/font" Target="fonts/InterMedium-regular.fntdata"/><Relationship Id="rId27" Type="http://schemas.openxmlformats.org/officeDocument/2006/relationships/font" Target="fonts/InterExtraBold-bold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InterMedium-bold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font" Target="fonts/InterMedium-boldItalic.fntdata"/><Relationship Id="rId30" Type="http://schemas.openxmlformats.org/officeDocument/2006/relationships/font" Target="fonts/InterMedium-italic.fnt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font" Target="fonts/InterSemiBold-bold.fntdata"/><Relationship Id="rId18" Type="http://schemas.openxmlformats.org/officeDocument/2006/relationships/font" Target="fonts/InterSemiBold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ead4832d36_0_0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ead4832d36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ead4832d36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f0470b9dac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f0470b9dac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Decision, have to be yes or no. Is this condition true or not. If it’s not true, where I go.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Fixed the second LLM API.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Instead of having structured data, you can </a:t>
            </a:r>
            <a:r>
              <a:rPr lang="en"/>
              <a:t>ingest</a:t>
            </a:r>
            <a:r>
              <a:rPr lang="en"/>
              <a:t> in YAML format.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ToDo: </a:t>
            </a:r>
            <a:br>
              <a:rPr lang="en"/>
            </a:br>
            <a:r>
              <a:rPr lang="en"/>
              <a:t>- Take a section of the database manual maybe and only process that. 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At the same time come up with a general framework for your </a:t>
            </a:r>
            <a:r>
              <a:rPr lang="en"/>
              <a:t>prompt</a:t>
            </a:r>
            <a:r>
              <a:rPr lang="en"/>
              <a:t> so it works for any DBMS, not just MySQL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f7d14b9dbb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f7d14b9dbb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f2f979161f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f2f979161f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f2f979161f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f2f979161f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f2f979161f_0_3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f2f979161f_0_3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f7d14b9dbb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f7d14b9dbb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f7d14b9dbb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f7d14b9dbb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f7d14b9dbb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f7d14b9dbb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the general approach to improve this. You need to give more specific information, what does that mean? You need to give a template, what the LLM should be tasked with. If I give more precise information, I may be able to improve the performance. This example, validates this hypothesis, but this is just an example. You need to come up with a general approach. You need to be able to test and validate your hypothesis. 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f7d14b9dbb_0_1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f7d14b9dbb_0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 not use structural and semantic hallucinations. Do not follow what you said a few weeks ago. What is structural for Gemini, is different for taxonomy. 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f25a8fbc3d_0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f25a8fbc3d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f2f979161f_0_6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f2f979161f_0_6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g3e6ce0189fd_6_0)">
  <p:cSld name="Generated (g3e6ce0189fd_6_0)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 sz="1300"/>
            </a:lvl1pPr>
            <a:lvl2pPr lvl="1">
              <a:buNone/>
              <a:defRPr sz="1300"/>
            </a:lvl2pPr>
            <a:lvl3pPr lvl="2">
              <a:buNone/>
              <a:defRPr sz="1300"/>
            </a:lvl3pPr>
            <a:lvl4pPr lvl="3">
              <a:buNone/>
              <a:defRPr sz="1300"/>
            </a:lvl4pPr>
            <a:lvl5pPr lvl="4">
              <a:buNone/>
              <a:defRPr sz="1300"/>
            </a:lvl5pPr>
            <a:lvl6pPr lvl="5">
              <a:buNone/>
              <a:defRPr sz="1300"/>
            </a:lvl6pPr>
            <a:lvl7pPr lvl="6">
              <a:buNone/>
              <a:defRPr sz="1300"/>
            </a:lvl7pPr>
            <a:lvl8pPr lvl="7">
              <a:buNone/>
              <a:defRPr sz="1300"/>
            </a:lvl8pPr>
            <a:lvl9pPr lvl="8">
              <a:buNone/>
              <a:defRPr sz="13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dev.mysql.com/doc/refman/8.0/en/innodb-parameters.html" TargetMode="External"/><Relationship Id="rId4" Type="http://schemas.openxmlformats.org/officeDocument/2006/relationships/hyperlink" Target="https://dev.mysql.com/doc/refman/8.0/en/internal-temporary-tables.html" TargetMode="External"/><Relationship Id="rId5" Type="http://schemas.openxmlformats.org/officeDocument/2006/relationships/hyperlink" Target="https://dev.mysql.com/doc/refman/8.0/en/upgrading-what-is-upgraded.html" TargetMode="External"/><Relationship Id="rId6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png"/><Relationship Id="rId4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Relationship Id="rId4" Type="http://schemas.openxmlformats.org/officeDocument/2006/relationships/image" Target="../media/image1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2.png"/><Relationship Id="rId4" Type="http://schemas.openxmlformats.org/officeDocument/2006/relationships/image" Target="../media/image8.png"/><Relationship Id="rId5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CFCF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6" name="Google Shape;56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1905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7" name="Google Shape;57;p14"/>
          <p:cNvGrpSpPr/>
          <p:nvPr/>
        </p:nvGrpSpPr>
        <p:grpSpPr>
          <a:xfrm>
            <a:off x="571500" y="571500"/>
            <a:ext cx="8001000" cy="1476375"/>
            <a:chOff x="0" y="0"/>
            <a:chExt cx="8001000" cy="1476375"/>
          </a:xfrm>
        </p:grpSpPr>
        <p:sp>
          <p:nvSpPr>
            <p:cNvPr id="58" name="Google Shape;58;p14"/>
            <p:cNvSpPr txBox="1"/>
            <p:nvPr/>
          </p:nvSpPr>
          <p:spPr>
            <a:xfrm>
              <a:off x="0" y="0"/>
              <a:ext cx="8001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10">
                  <a:solidFill>
                    <a:srgbClr val="3B82F6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Master's Thesis Progress Report</a:t>
              </a:r>
              <a:endParaRPr b="0" sz="1110">
                <a:solidFill>
                  <a:srgbClr val="3B82F6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sp>
          <p:nvSpPr>
            <p:cNvPr id="59" name="Google Shape;59;p14"/>
            <p:cNvSpPr txBox="1"/>
            <p:nvPr/>
          </p:nvSpPr>
          <p:spPr>
            <a:xfrm>
              <a:off x="0" y="428625"/>
              <a:ext cx="8001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800">
                  <a:solidFill>
                    <a:srgbClr val="1A1A1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Friday</a:t>
              </a:r>
              <a:r>
                <a:rPr b="0" lang="en" sz="3800">
                  <a:solidFill>
                    <a:srgbClr val="1A1A1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, </a:t>
              </a:r>
              <a:r>
                <a:rPr lang="en" sz="3800">
                  <a:solidFill>
                    <a:srgbClr val="1A1A1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July 10th</a:t>
              </a:r>
              <a:endParaRPr b="0" sz="3800">
                <a:solidFill>
                  <a:srgbClr val="1A1A1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  <p:sp>
          <p:nvSpPr>
            <p:cNvPr id="60" name="Google Shape;60;p14"/>
            <p:cNvSpPr txBox="1"/>
            <p:nvPr/>
          </p:nvSpPr>
          <p:spPr>
            <a:xfrm>
              <a:off x="0" y="1095375"/>
              <a:ext cx="800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400">
                  <a:solidFill>
                    <a:srgbClr val="555555"/>
                  </a:solidFill>
                  <a:latin typeface="Inter"/>
                  <a:ea typeface="Inter"/>
                  <a:cs typeface="Inter"/>
                  <a:sym typeface="Inter"/>
                </a:rPr>
                <a:t>Focus: </a:t>
              </a:r>
              <a:endParaRPr b="0" sz="1400">
                <a:solidFill>
                  <a:srgbClr val="5555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61" name="Google Shape;61;p14"/>
          <p:cNvSpPr/>
          <p:nvPr/>
        </p:nvSpPr>
        <p:spPr>
          <a:xfrm>
            <a:off x="7143750" y="-952500"/>
            <a:ext cx="2857500" cy="2857500"/>
          </a:xfrm>
          <a:prstGeom prst="ellipse">
            <a:avLst/>
          </a:prstGeom>
          <a:solidFill>
            <a:srgbClr val="3B82F6">
              <a:alpha val="5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2" name="Google Shape;62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96250" y="0"/>
            <a:ext cx="1047900" cy="1047900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4"/>
          <p:cNvSpPr txBox="1"/>
          <p:nvPr/>
        </p:nvSpPr>
        <p:spPr>
          <a:xfrm>
            <a:off x="571500" y="2047875"/>
            <a:ext cx="8001000" cy="285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200">
                <a:solidFill>
                  <a:srgbClr val="1A1A1A"/>
                </a:solidFill>
                <a:latin typeface="Inter Medium"/>
                <a:ea typeface="Inter Medium"/>
                <a:cs typeface="Inter Medium"/>
                <a:sym typeface="Inter Medium"/>
              </a:rPr>
              <a:t>Jamshed Karimnazarov</a:t>
            </a:r>
            <a:endParaRPr b="0" sz="1200">
              <a:solidFill>
                <a:srgbClr val="1A1A1A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64" name="Google Shape;64;p1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/>
          <p:nvPr/>
        </p:nvSpPr>
        <p:spPr>
          <a:xfrm>
            <a:off x="7143750" y="-952500"/>
            <a:ext cx="2857500" cy="2857500"/>
          </a:xfrm>
          <a:prstGeom prst="ellipse">
            <a:avLst/>
          </a:prstGeom>
          <a:solidFill>
            <a:srgbClr val="3B82F6">
              <a:alpha val="5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15"/>
          <p:cNvSpPr txBox="1"/>
          <p:nvPr>
            <p:ph type="title"/>
          </p:nvPr>
        </p:nvSpPr>
        <p:spPr>
          <a:xfrm>
            <a:off x="571500" y="428625"/>
            <a:ext cx="80010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rgbClr val="1A1A1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Table of contents</a:t>
            </a:r>
            <a:endParaRPr b="0" sz="3200">
              <a:solidFill>
                <a:srgbClr val="1A1A1A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71" name="Google Shape;71;p15"/>
          <p:cNvSpPr/>
          <p:nvPr/>
        </p:nvSpPr>
        <p:spPr>
          <a:xfrm>
            <a:off x="571500" y="1095375"/>
            <a:ext cx="571500" cy="38100"/>
          </a:xfrm>
          <a:prstGeom prst="roundRect">
            <a:avLst>
              <a:gd fmla="val 50000" name="adj"/>
            </a:avLst>
          </a:prstGeom>
          <a:solidFill>
            <a:srgbClr val="3B82F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3" name="Google Shape;73;p15"/>
          <p:cNvSpPr txBox="1"/>
          <p:nvPr>
            <p:ph idx="1" type="body"/>
          </p:nvPr>
        </p:nvSpPr>
        <p:spPr>
          <a:xfrm>
            <a:off x="571500" y="1381125"/>
            <a:ext cx="8001000" cy="3238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1A1A1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1</a:t>
            </a:r>
            <a:r>
              <a:rPr b="0" lang="en" sz="1600">
                <a:solidFill>
                  <a:srgbClr val="1A1A1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. </a:t>
            </a:r>
            <a:r>
              <a:rPr lang="en" sz="1600">
                <a:solidFill>
                  <a:srgbClr val="1A1A1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Component 1: Knowledge Base construction</a:t>
            </a:r>
            <a:r>
              <a:rPr lang="en" sz="1400">
                <a:solidFill>
                  <a:srgbClr val="3B82F6"/>
                </a:solidFill>
                <a:latin typeface="Inter"/>
                <a:ea typeface="Inter"/>
                <a:cs typeface="Inter"/>
                <a:sym typeface="Inter"/>
              </a:rPr>
              <a:t>— Slide 3</a:t>
            </a:r>
            <a:endParaRPr sz="1600">
              <a:solidFill>
                <a:srgbClr val="1A1A1A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1A1A1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2</a:t>
            </a:r>
            <a:r>
              <a:rPr lang="en" sz="1600">
                <a:solidFill>
                  <a:srgbClr val="1A1A1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. Input data preparation</a:t>
            </a:r>
            <a:r>
              <a:rPr lang="en" sz="1400">
                <a:solidFill>
                  <a:srgbClr val="3B82F6"/>
                </a:solidFill>
                <a:latin typeface="Inter"/>
                <a:ea typeface="Inter"/>
                <a:cs typeface="Inter"/>
                <a:sym typeface="Inter"/>
              </a:rPr>
              <a:t>— Slides 4</a:t>
            </a:r>
            <a:endParaRPr sz="1600">
              <a:solidFill>
                <a:srgbClr val="1A1A1A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1A1A1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3. Hallucinations discovery LLM - 2a </a:t>
            </a:r>
            <a:r>
              <a:rPr lang="en" sz="1400">
                <a:solidFill>
                  <a:srgbClr val="3B82F6"/>
                </a:solidFill>
                <a:latin typeface="Inter"/>
                <a:ea typeface="Inter"/>
                <a:cs typeface="Inter"/>
                <a:sym typeface="Inter"/>
              </a:rPr>
              <a:t>— Slide 5-6</a:t>
            </a:r>
            <a:endParaRPr sz="1600">
              <a:solidFill>
                <a:srgbClr val="1A1A1A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1A1A1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4. My solution </a:t>
            </a:r>
            <a:r>
              <a:rPr lang="en" sz="1400">
                <a:solidFill>
                  <a:srgbClr val="3B82F6"/>
                </a:solidFill>
                <a:latin typeface="Inter"/>
                <a:ea typeface="Inter"/>
                <a:cs typeface="Inter"/>
                <a:sym typeface="Inter"/>
              </a:rPr>
              <a:t>— Slide 7-10</a:t>
            </a:r>
            <a:endParaRPr sz="1400">
              <a:solidFill>
                <a:srgbClr val="3B82F6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1A1A1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6</a:t>
            </a:r>
            <a:r>
              <a:rPr b="0" lang="en" sz="1600">
                <a:solidFill>
                  <a:srgbClr val="1A1A1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. </a:t>
            </a:r>
            <a:r>
              <a:rPr lang="en" sz="1600">
                <a:solidFill>
                  <a:srgbClr val="1A1A1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Next steps</a:t>
            </a:r>
            <a:r>
              <a:rPr b="0" lang="en" sz="1400">
                <a:solidFill>
                  <a:srgbClr val="3B82F6"/>
                </a:solidFill>
                <a:latin typeface="Inter"/>
                <a:ea typeface="Inter"/>
                <a:cs typeface="Inter"/>
                <a:sym typeface="Inter"/>
              </a:rPr>
              <a:t>— Slide </a:t>
            </a:r>
            <a:r>
              <a:rPr lang="en" sz="1400">
                <a:solidFill>
                  <a:srgbClr val="3B82F6"/>
                </a:solidFill>
                <a:latin typeface="Inter"/>
                <a:ea typeface="Inter"/>
                <a:cs typeface="Inter"/>
                <a:sym typeface="Inter"/>
              </a:rPr>
              <a:t>11</a:t>
            </a:r>
            <a:endParaRPr b="0" sz="1600">
              <a:solidFill>
                <a:srgbClr val="555555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800"/>
              </a:spcBef>
              <a:spcAft>
                <a:spcPts val="1200"/>
              </a:spcAft>
              <a:buNone/>
            </a:pPr>
            <a:r>
              <a:rPr b="0" lang="en" sz="1200">
                <a:solidFill>
                  <a:srgbClr val="94A3B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Total: </a:t>
            </a:r>
            <a:r>
              <a:rPr lang="en" sz="1200">
                <a:solidFill>
                  <a:srgbClr val="94A3B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11 </a:t>
            </a:r>
            <a:r>
              <a:rPr b="0" lang="en" sz="1200">
                <a:solidFill>
                  <a:srgbClr val="94A3B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Slides</a:t>
            </a:r>
            <a:endParaRPr b="0" sz="1200">
              <a:solidFill>
                <a:srgbClr val="94A3B8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Component 1: Knowledge Base construction</a:t>
            </a:r>
            <a:endParaRPr b="1"/>
          </a:p>
        </p:txBody>
      </p:sp>
      <p:sp>
        <p:nvSpPr>
          <p:cNvPr id="79" name="Google Shape;79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80" name="Google Shape;80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8650" y="1331725"/>
            <a:ext cx="8839204" cy="25507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7"/>
          <p:cNvSpPr txBox="1"/>
          <p:nvPr>
            <p:ph idx="1" type="body"/>
          </p:nvPr>
        </p:nvSpPr>
        <p:spPr>
          <a:xfrm>
            <a:off x="311700" y="1152475"/>
            <a:ext cx="47058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</a:rPr>
              <a:t>DBMS manual: 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arenR"/>
            </a:pPr>
            <a:r>
              <a:rPr lang="en" sz="1400">
                <a:solidFill>
                  <a:schemeClr val="dk1"/>
                </a:solidFill>
              </a:rPr>
              <a:t>PDF</a:t>
            </a:r>
            <a:endParaRPr sz="1400">
              <a:solidFill>
                <a:schemeClr val="dk1"/>
              </a:solidFill>
            </a:endParaRPr>
          </a:p>
          <a:p>
            <a:pPr indent="-317500" lvl="0" marL="9144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</a:pPr>
            <a:r>
              <a:rPr lang="en" sz="1400">
                <a:solidFill>
                  <a:schemeClr val="dk1"/>
                </a:solidFill>
              </a:rPr>
              <a:t>RABBIT does not take input as PDF files</a:t>
            </a:r>
            <a:endParaRPr sz="1400">
              <a:solidFill>
                <a:schemeClr val="dk1"/>
              </a:solidFill>
            </a:endParaRPr>
          </a:p>
          <a:p>
            <a:pPr indent="-317500" lvl="0" marL="9144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</a:pPr>
            <a:r>
              <a:rPr lang="en" sz="1400">
                <a:solidFill>
                  <a:schemeClr val="dk1"/>
                </a:solidFill>
              </a:rPr>
              <a:t>PDF to text conversion is challenging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arenR"/>
            </a:pPr>
            <a:r>
              <a:rPr lang="en" sz="1400">
                <a:solidFill>
                  <a:schemeClr val="dk1"/>
                </a:solidFill>
              </a:rPr>
              <a:t>Web</a:t>
            </a:r>
            <a:endParaRPr sz="1400">
              <a:solidFill>
                <a:schemeClr val="dk1"/>
              </a:solidFill>
            </a:endParaRPr>
          </a:p>
          <a:p>
            <a:pPr indent="-317500" lvl="0" marL="9144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</a:pPr>
            <a:r>
              <a:rPr lang="en" sz="1400">
                <a:solidFill>
                  <a:schemeClr val="dk1"/>
                </a:solidFill>
              </a:rPr>
              <a:t>HTML tags noise</a:t>
            </a:r>
            <a:endParaRPr sz="1400">
              <a:solidFill>
                <a:schemeClr val="dk1"/>
              </a:solidFill>
            </a:endParaRPr>
          </a:p>
          <a:p>
            <a:pPr indent="-317500" lvl="0" marL="9144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</a:pPr>
            <a:r>
              <a:rPr lang="en" sz="1400">
                <a:solidFill>
                  <a:schemeClr val="dk1"/>
                </a:solidFill>
              </a:rPr>
              <a:t>Utilize existing tools to extract core text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</a:rPr>
              <a:t>Select 3 pages: 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1400"/>
              <a:buChar char="-"/>
            </a:pPr>
            <a:r>
              <a:rPr lang="en" sz="1400" u="sng">
                <a:solidFill>
                  <a:schemeClr val="hlink"/>
                </a:solidFill>
                <a:hlinkClick r:id="rId3"/>
              </a:rPr>
              <a:t>InnoDB parameters</a:t>
            </a:r>
            <a:endParaRPr sz="1400"/>
          </a:p>
          <a:p>
            <a:pPr indent="-3175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 sz="1400" u="sng">
                <a:solidFill>
                  <a:schemeClr val="hlink"/>
                </a:solidFill>
                <a:hlinkClick r:id="rId4"/>
              </a:rPr>
              <a:t>Internal Temporary Table</a:t>
            </a:r>
            <a:endParaRPr sz="1400"/>
          </a:p>
          <a:p>
            <a:pPr indent="-3175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 sz="1400" u="sng">
                <a:solidFill>
                  <a:schemeClr val="hlink"/>
                </a:solidFill>
                <a:hlinkClick r:id="rId5"/>
              </a:rPr>
              <a:t>What the MySQL Upgrade Process Upgrades</a:t>
            </a:r>
            <a:endParaRPr sz="1400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400">
                <a:solidFill>
                  <a:schemeClr val="dk1"/>
                </a:solidFill>
              </a:rPr>
              <a:t>Total: 184 knobs</a:t>
            </a:r>
            <a:endParaRPr sz="1400">
              <a:solidFill>
                <a:schemeClr val="dk1"/>
              </a:solidFill>
            </a:endParaRPr>
          </a:p>
        </p:txBody>
      </p:sp>
      <p:sp>
        <p:nvSpPr>
          <p:cNvPr id="86" name="Google Shape;86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87" name="Google Shape;87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702800" y="1811925"/>
            <a:ext cx="4223801" cy="1850249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Input data preparation</a:t>
            </a:r>
            <a:endParaRPr b="1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2. Element extraction - LLM 2a</a:t>
            </a:r>
            <a:endParaRPr b="1"/>
          </a:p>
        </p:txBody>
      </p:sp>
      <p:sp>
        <p:nvSpPr>
          <p:cNvPr id="94" name="Google Shape;94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000">
                <a:solidFill>
                  <a:srgbClr val="1A1A1B"/>
                </a:solidFill>
                <a:latin typeface="Arial"/>
                <a:ea typeface="Arial"/>
                <a:cs typeface="Arial"/>
                <a:sym typeface="Arial"/>
              </a:rPr>
              <a:t>Goal: Extract from chunks</a:t>
            </a:r>
            <a:endParaRPr b="1" sz="2000">
              <a:solidFill>
                <a:srgbClr val="1A1A1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</a:pPr>
            <a:r>
              <a:rPr lang="en" sz="1400">
                <a:solidFill>
                  <a:schemeClr val="dk1"/>
                </a:solidFill>
              </a:rPr>
              <a:t>All knobs + descriptions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</a:pPr>
            <a:r>
              <a:rPr lang="en" sz="1400">
                <a:solidFill>
                  <a:schemeClr val="dk1"/>
                </a:solidFill>
              </a:rPr>
              <a:t>All knob relationships + description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dk1"/>
                </a:solidFill>
              </a:rPr>
              <a:t>Hallucination type: Entity and relationship error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95" name="Google Shape;95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96" name="Google Shape;96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9350" y="3179413"/>
            <a:ext cx="4145855" cy="1438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5" y="3224938"/>
            <a:ext cx="4011190" cy="1438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9"/>
          <p:cNvSpPr txBox="1"/>
          <p:nvPr>
            <p:ph type="title"/>
          </p:nvPr>
        </p:nvSpPr>
        <p:spPr>
          <a:xfrm>
            <a:off x="381000" y="381000"/>
            <a:ext cx="83820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rgbClr val="1A1A1B"/>
                </a:solidFill>
                <a:latin typeface="Arial"/>
                <a:ea typeface="Arial"/>
                <a:cs typeface="Arial"/>
                <a:sym typeface="Arial"/>
              </a:rPr>
              <a:t>Precision and Recall </a:t>
            </a:r>
            <a:endParaRPr b="1" sz="2800">
              <a:solidFill>
                <a:srgbClr val="1A1A1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04" name="Google Shape;104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67300" y="1634200"/>
            <a:ext cx="5397850" cy="2386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0"/>
          <p:cNvSpPr txBox="1"/>
          <p:nvPr>
            <p:ph type="title"/>
          </p:nvPr>
        </p:nvSpPr>
        <p:spPr>
          <a:xfrm>
            <a:off x="381000" y="381000"/>
            <a:ext cx="83820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1A1A1B"/>
                </a:solidFill>
                <a:latin typeface="Inter"/>
                <a:ea typeface="Inter"/>
                <a:cs typeface="Inter"/>
                <a:sym typeface="Inter"/>
              </a:rPr>
              <a:t>Solution</a:t>
            </a:r>
            <a:endParaRPr b="1" sz="2800">
              <a:solidFill>
                <a:srgbClr val="1A1A1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0" name="Google Shape;110;p20"/>
          <p:cNvSpPr txBox="1"/>
          <p:nvPr>
            <p:ph idx="1" type="body"/>
          </p:nvPr>
        </p:nvSpPr>
        <p:spPr>
          <a:xfrm>
            <a:off x="381000" y="1333500"/>
            <a:ext cx="8382000" cy="3238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800">
                <a:solidFill>
                  <a:srgbClr val="1E293B"/>
                </a:solidFill>
                <a:latin typeface="Inter Medium"/>
                <a:ea typeface="Inter Medium"/>
                <a:cs typeface="Inter Medium"/>
                <a:sym typeface="Inter Medium"/>
              </a:rPr>
              <a:t>Focus on LLM-2a component where most of the hallucination happens </a:t>
            </a:r>
            <a:endParaRPr b="0" sz="1800">
              <a:solidFill>
                <a:srgbClr val="1E293B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b="0" lang="en" sz="1600">
                <a:solidFill>
                  <a:srgbClr val="47556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Cause of hallucination: </a:t>
            </a:r>
            <a:endParaRPr b="0" sz="1600">
              <a:solidFill>
                <a:srgbClr val="475569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rgbClr val="334155"/>
              </a:buClr>
              <a:buSzPts val="1600"/>
              <a:buFont typeface="Inter"/>
              <a:buChar char="●"/>
            </a:pPr>
            <a:r>
              <a:rPr b="0" lang="en" sz="16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Default GraphRAG prompt </a:t>
            </a:r>
            <a:endParaRPr b="0" sz="1600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0200" lvl="0" marL="457200" rtl="0" algn="l">
              <a:spcBef>
                <a:spcPts val="900"/>
              </a:spcBef>
              <a:spcAft>
                <a:spcPts val="0"/>
              </a:spcAft>
              <a:buClr>
                <a:srgbClr val="334155"/>
              </a:buClr>
              <a:buSzPts val="1600"/>
              <a:buFont typeface="Inter"/>
              <a:buChar char="●"/>
            </a:pPr>
            <a:r>
              <a:rPr b="0" lang="en" sz="16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Default entity types </a:t>
            </a:r>
            <a:endParaRPr b="0" sz="1600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1" name="Google Shape;111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1"/>
          <p:cNvSpPr txBox="1"/>
          <p:nvPr>
            <p:ph type="title"/>
          </p:nvPr>
        </p:nvSpPr>
        <p:spPr>
          <a:xfrm>
            <a:off x="623400" y="2216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Prompt Template</a:t>
            </a:r>
            <a:endParaRPr/>
          </a:p>
        </p:txBody>
      </p:sp>
      <p:sp>
        <p:nvSpPr>
          <p:cNvPr id="117" name="Google Shape;117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18" name="Google Shape;118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1950" y="957350"/>
            <a:ext cx="4774074" cy="40994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2. My solution: Element extraction - LLM 2a </a:t>
            </a:r>
            <a:endParaRPr b="1"/>
          </a:p>
        </p:txBody>
      </p:sp>
      <p:sp>
        <p:nvSpPr>
          <p:cNvPr id="124" name="Google Shape;124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25" name="Google Shape;125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7550" y="2069675"/>
            <a:ext cx="3766024" cy="144387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22"/>
          <p:cNvSpPr txBox="1"/>
          <p:nvPr/>
        </p:nvSpPr>
        <p:spPr>
          <a:xfrm>
            <a:off x="845150" y="1805075"/>
            <a:ext cx="1092600" cy="33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Knobs</a:t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id="127" name="Google Shape;127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81973" y="2509275"/>
            <a:ext cx="3390475" cy="1063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22"/>
          <p:cNvSpPr txBox="1"/>
          <p:nvPr/>
        </p:nvSpPr>
        <p:spPr>
          <a:xfrm>
            <a:off x="5351275" y="1957475"/>
            <a:ext cx="2045100" cy="33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Relationships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3" name="Google Shape;133;p23"/>
          <p:cNvGrpSpPr/>
          <p:nvPr/>
        </p:nvGrpSpPr>
        <p:grpSpPr>
          <a:xfrm>
            <a:off x="571500" y="476250"/>
            <a:ext cx="8001000" cy="571500"/>
            <a:chOff x="0" y="0"/>
            <a:chExt cx="8001000" cy="571500"/>
          </a:xfrm>
        </p:grpSpPr>
        <p:sp>
          <p:nvSpPr>
            <p:cNvPr id="134" name="Google Shape;134;p23"/>
            <p:cNvSpPr/>
            <p:nvPr/>
          </p:nvSpPr>
          <p:spPr>
            <a:xfrm>
              <a:off x="0" y="0"/>
              <a:ext cx="8001000" cy="571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" name="Google Shape;135;p23"/>
            <p:cNvSpPr txBox="1"/>
            <p:nvPr/>
          </p:nvSpPr>
          <p:spPr>
            <a:xfrm>
              <a:off x="0" y="0"/>
              <a:ext cx="8001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80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My solution: Element extraction - LLM 2a</a:t>
              </a:r>
              <a:endParaRPr b="1" sz="28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6" name="Google Shape;13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137" name="Google Shape;137;p23"/>
          <p:cNvGrpSpPr/>
          <p:nvPr/>
        </p:nvGrpSpPr>
        <p:grpSpPr>
          <a:xfrm>
            <a:off x="571500" y="1428750"/>
            <a:ext cx="3810000" cy="2667000"/>
            <a:chOff x="0" y="0"/>
            <a:chExt cx="3810000" cy="2667000"/>
          </a:xfrm>
        </p:grpSpPr>
        <p:sp>
          <p:nvSpPr>
            <p:cNvPr id="138" name="Google Shape;138;p23"/>
            <p:cNvSpPr/>
            <p:nvPr/>
          </p:nvSpPr>
          <p:spPr>
            <a:xfrm>
              <a:off x="0" y="0"/>
              <a:ext cx="3810000" cy="2667000"/>
            </a:xfrm>
            <a:prstGeom prst="roundRect">
              <a:avLst>
                <a:gd fmla="val 2857" name="adj"/>
              </a:avLst>
            </a:prstGeom>
            <a:solidFill>
              <a:srgbClr val="F8FAFC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" name="Google Shape;139;p23"/>
            <p:cNvSpPr txBox="1"/>
            <p:nvPr/>
          </p:nvSpPr>
          <p:spPr>
            <a:xfrm>
              <a:off x="0" y="0"/>
              <a:ext cx="3810000" cy="2667000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228600" lIns="228600" spcFirstLastPara="1" rIns="228600" wrap="square" tIns="2286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Knobs</a:t>
              </a:r>
              <a:endParaRPr b="1" sz="18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330200" lvl="0" marL="457200" rtl="0" algn="l">
                <a:spcBef>
                  <a:spcPts val="1600"/>
                </a:spcBef>
                <a:spcAft>
                  <a:spcPts val="0"/>
                </a:spcAft>
                <a:buClr>
                  <a:srgbClr val="475569"/>
                </a:buClr>
                <a:buSzPts val="1600"/>
                <a:buFont typeface="Arial"/>
                <a:buChar char="●"/>
              </a:pPr>
              <a:r>
                <a:rPr b="0" lang="en" sz="16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Precision: </a:t>
              </a:r>
              <a:r>
                <a:rPr b="1" lang="en" sz="160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0.74</a:t>
              </a:r>
              <a:r>
                <a:rPr b="1" lang="en" sz="160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" sz="1600">
                  <a:solidFill>
                    <a:srgbClr val="FF0000"/>
                  </a:solidFill>
                </a:rPr>
                <a:t>(0.17)</a:t>
              </a:r>
              <a:endParaRPr b="0" sz="16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330200" lvl="0" marL="457200" rtl="0" algn="l">
                <a:spcBef>
                  <a:spcPts val="1000"/>
                </a:spcBef>
                <a:spcAft>
                  <a:spcPts val="0"/>
                </a:spcAft>
                <a:buClr>
                  <a:srgbClr val="475569"/>
                </a:buClr>
                <a:buSzPts val="1600"/>
                <a:buFont typeface="Arial"/>
                <a:buChar char="●"/>
              </a:pPr>
              <a:r>
                <a:rPr b="0" lang="en" sz="16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Recall: </a:t>
              </a:r>
              <a:r>
                <a:rPr b="1" lang="en" sz="160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0.88</a:t>
              </a:r>
              <a:r>
                <a:rPr b="1" lang="en" sz="160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" sz="1600">
                  <a:solidFill>
                    <a:srgbClr val="FF0000"/>
                  </a:solidFill>
                </a:rPr>
                <a:t>(0.07)</a:t>
              </a:r>
              <a:endParaRPr b="0" sz="16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330200" lvl="0" marL="457200" rtl="0" algn="l">
                <a:spcBef>
                  <a:spcPts val="1000"/>
                </a:spcBef>
                <a:spcAft>
                  <a:spcPts val="0"/>
                </a:spcAft>
                <a:buClr>
                  <a:srgbClr val="475569"/>
                </a:buClr>
                <a:buSzPts val="1600"/>
                <a:buFont typeface="Arial"/>
                <a:buChar char="●"/>
              </a:pPr>
              <a:r>
                <a:rPr b="0" lang="en" sz="16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F1-score: </a:t>
              </a:r>
              <a:r>
                <a:rPr b="1" lang="en" sz="160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0.80</a:t>
              </a:r>
              <a:r>
                <a:rPr b="1" lang="en" sz="160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" sz="1600">
                  <a:solidFill>
                    <a:srgbClr val="FF0000"/>
                  </a:solidFill>
                </a:rPr>
                <a:t>(0.10)</a:t>
              </a:r>
              <a:endParaRPr b="0" sz="16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0" name="Google Shape;140;p23"/>
          <p:cNvGrpSpPr/>
          <p:nvPr/>
        </p:nvGrpSpPr>
        <p:grpSpPr>
          <a:xfrm>
            <a:off x="4762500" y="1428750"/>
            <a:ext cx="3810000" cy="2667000"/>
            <a:chOff x="0" y="0"/>
            <a:chExt cx="3810000" cy="2667000"/>
          </a:xfrm>
        </p:grpSpPr>
        <p:sp>
          <p:nvSpPr>
            <p:cNvPr id="141" name="Google Shape;141;p23"/>
            <p:cNvSpPr/>
            <p:nvPr/>
          </p:nvSpPr>
          <p:spPr>
            <a:xfrm>
              <a:off x="0" y="0"/>
              <a:ext cx="3810000" cy="2667000"/>
            </a:xfrm>
            <a:prstGeom prst="roundRect">
              <a:avLst>
                <a:gd fmla="val 2857" name="adj"/>
              </a:avLst>
            </a:prstGeom>
            <a:solidFill>
              <a:srgbClr val="F8FAFC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" name="Google Shape;142;p23"/>
            <p:cNvSpPr txBox="1"/>
            <p:nvPr/>
          </p:nvSpPr>
          <p:spPr>
            <a:xfrm>
              <a:off x="0" y="0"/>
              <a:ext cx="3810000" cy="266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28600" lIns="228600" spcFirstLastPara="1" rIns="228600" wrap="square" tIns="2286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Relationships</a:t>
              </a:r>
              <a:endParaRPr b="1" sz="18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330200" lvl="0" marL="457200" rtl="0" algn="l">
                <a:spcBef>
                  <a:spcPts val="1600"/>
                </a:spcBef>
                <a:spcAft>
                  <a:spcPts val="0"/>
                </a:spcAft>
                <a:buClr>
                  <a:srgbClr val="475569"/>
                </a:buClr>
                <a:buSzPts val="1600"/>
                <a:buFont typeface="Arial"/>
                <a:buChar char="●"/>
              </a:pPr>
              <a:r>
                <a:rPr b="0" lang="en" sz="16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Precision: </a:t>
              </a:r>
              <a:r>
                <a:rPr b="1" lang="en" sz="160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0.9</a:t>
              </a:r>
              <a:r>
                <a:rPr b="1" lang="en" sz="160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1" lang="en" sz="1600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(0.75)</a:t>
              </a:r>
              <a:endParaRPr b="0" sz="16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330200" lvl="0" marL="457200" rtl="0" algn="l">
                <a:spcBef>
                  <a:spcPts val="1000"/>
                </a:spcBef>
                <a:spcAft>
                  <a:spcPts val="0"/>
                </a:spcAft>
                <a:buClr>
                  <a:srgbClr val="475569"/>
                </a:buClr>
                <a:buSzPts val="1600"/>
                <a:buFont typeface="Arial"/>
                <a:buChar char="●"/>
              </a:pPr>
              <a:r>
                <a:rPr b="0" lang="en" sz="16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Recall: </a:t>
              </a:r>
              <a:r>
                <a:rPr b="1" lang="en" sz="160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 NA </a:t>
              </a:r>
              <a:r>
                <a:rPr b="1" lang="en" sz="1600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(0.00)</a:t>
              </a:r>
              <a:endParaRPr b="0" sz="16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330200" lvl="0" marL="457200" rtl="0" algn="l">
                <a:spcBef>
                  <a:spcPts val="1000"/>
                </a:spcBef>
                <a:spcAft>
                  <a:spcPts val="0"/>
                </a:spcAft>
                <a:buClr>
                  <a:srgbClr val="475569"/>
                </a:buClr>
                <a:buSzPts val="1600"/>
                <a:buFont typeface="Arial"/>
                <a:buChar char="●"/>
              </a:pPr>
              <a:r>
                <a:rPr b="0" lang="en" sz="16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F1-score: </a:t>
              </a:r>
              <a:r>
                <a:rPr b="1" lang="en" sz="160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 NA </a:t>
              </a:r>
              <a:r>
                <a:rPr b="1" lang="en" sz="1600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(0.00)</a:t>
              </a:r>
              <a:endParaRPr b="0" sz="16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Next steps</a:t>
            </a:r>
            <a:endParaRPr/>
          </a:p>
        </p:txBody>
      </p:sp>
      <p:sp>
        <p:nvSpPr>
          <p:cNvPr id="148" name="Google Shape;148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3B82F6"/>
                </a:solidFill>
                <a:latin typeface="Inter"/>
                <a:ea typeface="Inter"/>
                <a:cs typeface="Inter"/>
                <a:sym typeface="Inter"/>
              </a:rPr>
              <a:t>01 </a:t>
            </a:r>
            <a:r>
              <a:rPr lang="en" sz="20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Count the number of </a:t>
            </a:r>
            <a:r>
              <a:rPr lang="en" sz="20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relationships</a:t>
            </a:r>
            <a:r>
              <a:rPr lang="en" sz="20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in the input file</a:t>
            </a:r>
            <a:endParaRPr sz="2000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ct val="55000"/>
              <a:buFont typeface="Arial"/>
              <a:buNone/>
            </a:pPr>
            <a:r>
              <a:rPr b="1" lang="en">
                <a:solidFill>
                  <a:srgbClr val="3B82F6"/>
                </a:solidFill>
                <a:latin typeface="Inter"/>
                <a:ea typeface="Inter"/>
                <a:cs typeface="Inter"/>
                <a:sym typeface="Inter"/>
              </a:rPr>
              <a:t>02  </a:t>
            </a:r>
            <a:r>
              <a:rPr lang="en" sz="20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Calculate Recall and F1 score for my solution</a:t>
            </a:r>
            <a:endParaRPr sz="2000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30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3B82F6"/>
                </a:solidFill>
                <a:latin typeface="Inter"/>
                <a:ea typeface="Inter"/>
                <a:cs typeface="Inter"/>
                <a:sym typeface="Inter"/>
              </a:rPr>
              <a:t>02</a:t>
            </a:r>
            <a:r>
              <a:rPr b="1" lang="en">
                <a:solidFill>
                  <a:srgbClr val="3B82F6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" sz="20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Come</a:t>
            </a:r>
            <a:r>
              <a:rPr lang="en" sz="20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up </a:t>
            </a:r>
            <a:r>
              <a:rPr lang="en" sz="20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with</a:t>
            </a:r>
            <a:r>
              <a:rPr lang="en" sz="20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a solution to filter the input data</a:t>
            </a:r>
            <a:endParaRPr sz="2000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3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30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Appendix</a:t>
            </a:r>
            <a:endParaRPr/>
          </a:p>
        </p:txBody>
      </p:sp>
      <p:sp>
        <p:nvSpPr>
          <p:cNvPr id="155" name="Google Shape;155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62" name="Google Shape;162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2175" y="1601025"/>
            <a:ext cx="3668174" cy="1868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48850" y="1484350"/>
            <a:ext cx="4468949" cy="1422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2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12275" y="3146200"/>
            <a:ext cx="4235035" cy="1517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